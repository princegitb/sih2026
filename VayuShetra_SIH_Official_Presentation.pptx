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1182B"/>
          </a:solidFill>
          <a:ln w="2540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SMART INDIA HACKATHON 2026 • AI &amp; SATELLITE ATMOSPHERIC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VayuShetra: Atmospheric Intelligence Platform</a:t>
            </a:r>
          </a:p>
          <a:p>
            <a:pPr>
              <a:defRPr sz="1700">
                <a:solidFill>
                  <a:srgbClr val="38BDF8"/>
                </a:solidFill>
              </a:defRPr>
            </a:pPr>
            <a:r>
              <a:t>Hyperlocal Air Quality Forecasting, Sentinel-5P HCHO Hotspot Tracking &amp; Source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520440"/>
            <a:ext cx="2212848" cy="21031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🛰️ HCHO &amp; FIRMS Hotspots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Detects invisible smoldering crop residue fires via Sentinel-5P HCHO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0752" y="3520440"/>
            <a:ext cx="2212848" cy="21031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🌪️ Lagrangian Wind AI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Physics-driven smoke plume trajectory simulation across 300+ km corridors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9904" y="3520440"/>
            <a:ext cx="2212848" cy="21031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⚡ 48-72h Early Warning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Pre-emptive district intelligence replacing retroactive city shutdowns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3520440"/>
            <a:ext cx="2212848" cy="21031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23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🎯 Chemical Source Attribution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Decomposes air pollution into Farm Fire vs Vehicle vs Factory percentages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1. Problem Statement: Scale of Crisis &amp; Critical Blindspots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Health &amp; Economic Catastrophe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1.67 Million premature deaths in India annually linked to air pollution (Lancet).</a:t>
            </a:r>
            <a:br/>
            <a:r>
              <a:t>• ₹2.7 Lakh Crore ($36.8B) annual economic loss from worker morbidity &amp; healthcare load.</a:t>
            </a:r>
            <a:br/>
            <a:r>
              <a:t>• Post-monsoon AQI reaches 450+ (25x to 30x above WHO limits), shutting schools &amp; industries.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Massive Ground Sensor Gap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Ground stations (CPCB) cost ₹1.5–2 Crore each to deploy + ₹30 Lakh/year maintenance.</a:t>
            </a:r>
            <a:br/>
            <a:r>
              <a:t>• 90% of stations are clustered in metro cities; 600,000+ rural villages have ZERO sensors.</a:t>
            </a:r>
            <a:br/>
            <a:r>
              <a:t>• Agricultural stubble burning belts in Punjab/Haryana/UP operate in total data blindness.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Invisible Fires &amp; Blame Games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Smoldering crop fires emit high Formaldehyde (HCHO) but low heat, evading standard thermal cameras.</a:t>
            </a:r>
            <a:br/>
            <a:r>
              <a:t>• Authorities lack causal source attribution (Farm Fires vs. Traffic vs. Industry).</a:t>
            </a:r>
            <a:br/>
            <a:r>
              <a:t>• Results in retroactive, blanket city shutdowns instead of targeted, pre-emptive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2. Proposed Solution: VayuShetra Atmospheric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🛰️ Space-Borne Sensing with Sentinel-5P HCHO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Leverages Sentinel-5P TROPOMI Formaldehyde (HCHO) columnar density and NASA VIIRS 375m hotspots to track active &amp; smoldering biomass burning across every square kilometer of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🌪️ Lagrangian Wind Transport Modeling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Integrates ERA5 meteorological wind kinematics with Lagrangian plume dispersion to model exact smoke trajectories traveling 300+ km from northern farms to urban basins.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⚡ 48-72h AI Predictive Forecasting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Multi-seasonal LightGBM and XGBoost machine learning architectures predicting district-level PM2.5, PM10, and AQI up to 3 days in advance with weather-adjusted feature weighting.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🎯 Trace Gas Chemical Source Apportionment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Computes columnar gas ratios (NO2/CO, HCHO/SO2) to scientifically separate regional pollution into exact percentage shares: Biomass Burning, Vehicular Exhaust, and Industrial Stacks.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3. Key Features &amp; Operational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Step 1: Ingest &amp; Detect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Ingests Sentinel-5P trace gases (HCHO, NO2, SO2, CO) + NASA FIRMS thermal hotspots.</a:t>
            </a:r>
            <a:br/>
            <a:r>
              <a:t>• Pulls live CPCB ground station telemetry + ERA5 wind vector fields.</a:t>
            </a:r>
            <a:br/>
            <a:r>
              <a:t>• Cleans, spatial-aligns, and interpolates data across 15+ benchmark districts.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Step 2: Model &amp; Apportion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DBSCAN Spatial Clustering groups isolated fire pixels into regional burning centers.</a:t>
            </a:r>
            <a:br/>
            <a:r>
              <a:t>• Lagrangian Plume Dispersion tracks downwind smoke transport.</a:t>
            </a:r>
            <a:br/>
            <a:r>
              <a:t>• Chemical Fingerprinting computes real-time source apportionment percentages.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Step 3: Forecast &amp; Act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48-72h LightGBM/XGBoost generates district-level AQI forecasts.</a:t>
            </a:r>
            <a:br/>
            <a:r>
              <a:t>• Automated GRAP Advisory Engine maps forecast to Stage I–IV mandates.</a:t>
            </a:r>
            <a:br/>
            <a:r>
              <a:t>• Delivers actionable alerts to district collectors, health officials, and citizens.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4. Technology Stack: Cloud-Native &amp; Production-Ready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🛰️ Space &amp; Satellite Data Pipeline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Sentinel-5P TROPOMI (NetCDF4 Products: HCHO, NO2, SO2, CO, AOD)</a:t>
            </a:r>
            <a:br/>
            <a:r>
              <a:t>• NASA FIRMS 375m VIIRS &amp; MODIS Thermal Anomaly Streams</a:t>
            </a:r>
            <a:br/>
            <a:r>
              <a:t>• ERA5 &amp; Open-Meteo Planetary Boundary Layer (PBL) &amp; Wind Vectors (u, v)</a:t>
            </a:r>
            <a:br/>
            <a:r>
              <a:t>• CPCB National CAAQMS Ground Sensor Real-Time API Feeds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B6BF5"/>
                </a:solidFill>
              </a:defRPr>
            </a:pPr>
            <a:r>
              <a:t>🧠 AI, Machine Learning &amp; Analytics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LightGBM &amp; XGBoost (Multi-Seasonal 48h-72h Predictive Models)</a:t>
            </a:r>
            <a:br/>
            <a:r>
              <a:t>• Scikit-Learn (DBSCAN Spatial Clustering for Hotspot Identification)</a:t>
            </a:r>
            <a:br/>
            <a:r>
              <a:t>• SciPy &amp; NumPy (Lagrangian Plume Dispersion &amp; Partial Correlation)</a:t>
            </a:r>
            <a:br/>
            <a:r>
              <a:t>• Pandas &amp; NetCDF4 Engine (Vectorized Geospatial Data Processing)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⚡ Backend &amp; Data Infrastructure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Python 3.10+ &amp; FastAPI (High-performance Asynchronous Microservices)</a:t>
            </a:r>
            <a:br/>
            <a:r>
              <a:t>• SQLite / PostgreSQL Database with spatial caching &amp; session indexing</a:t>
            </a:r>
            <a:br/>
            <a:r>
              <a:t>• Automated CRON schedulers for continuous 15-minute satellite sync</a:t>
            </a:r>
            <a:br/>
            <a:r>
              <a:t>• Robust Offline Fallbacks with spatial k-NN interpolation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🖥️ Frontend &amp; UI Experience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React 18 + Vite (Ultra-fast responsive single-page application)</a:t>
            </a:r>
            <a:br/>
            <a:r>
              <a:t>• TailwindCSS &amp; Custom Glassmorphism Theme (Dark mode, neon accents)</a:t>
            </a:r>
            <a:br/>
            <a:r>
              <a:t>• Recharts &amp; Canvas 2D (Interactive spatial charts &amp; vector wind flows)</a:t>
            </a:r>
            <a:br/>
            <a:r>
              <a:t>• Lucide Icons &amp; Responsive District Analytics Spatial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5. Innovation &amp; Impact: Transforming Environmental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Key Technical Innovations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Sentinel-5P HCHO Chemical Tracer: Uncovers invisible smoldering fires that evade thermal infrared satellites.</a:t>
            </a:r>
            <a:br/>
            <a:r>
              <a:t>• Lagrangian Wind Transport AI: Maps interstate smoke travel (Punjab/Haryana -&gt; Delhi) with kinematic accuracy.</a:t>
            </a:r>
            <a:br/>
            <a:r>
              <a:t>• Causal Source Apportionment: Mathematically decomposes pollution into Biomass vs Vehicle vs Factory shares.</a:t>
            </a:r>
            <a:br/>
            <a:r>
              <a:t>• Zero Ground Sensor Capex: 100% spatial coverage of India without spending ₹1.5 Cr per sensor station.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Measurable Socio-Economic Impact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48-72h Pre-emptive Action: Enables district collectors to deploy bio-decomposers &amp; balers BEFORE burning occurs.</a:t>
            </a:r>
            <a:br/>
            <a:r>
              <a:t>• Health Protection for 50M+ Citizens: Delivers pollutant-specific health alerts for schools, hospitals, and high-risk patients.</a:t>
            </a:r>
            <a:br/>
            <a:r>
              <a:t>• Ending Interstate Blame Games: Provides unforgeable, audit-grade satellite evidence for policy enforcement.</a:t>
            </a:r>
            <a:br/>
            <a:r>
              <a:t>• Accelerated NCAP Progress: Directly aids National Clean Air Programme goal of 40% PM2.5 reduction by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6. Market Potential, Scalability &amp; Sustainability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4B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6BF5"/>
                </a:solidFill>
              </a:defRPr>
            </a:pPr>
            <a:r>
              <a:t>🎯 Target Customers &amp; Stakeholders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Government Bodies: Central Pollution Control Board (CPCB), State PCBs (Punjab, Haryana, Delhi, UP), MoEFCC.</a:t>
            </a:r>
            <a:br/>
            <a:r>
              <a:t>• District Administrations: 700+ District Collectorates, Municipal Corporations &amp; Smart Cities.</a:t>
            </a:r>
            <a:br/>
            <a:r>
              <a:t>• Private Sector &amp; Public: Environmental consultancies, healthcare providers, schools, logistics fleets, and citizens.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💰 Business &amp; Deployment Model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B2G SaaS &amp; Enterprise API: Tiered subscription model for municipal administrations &amp; state boards.</a:t>
            </a:r>
            <a:br/>
            <a:r>
              <a:t>• Zero-Capex Deployment: Low operational cost on cloud infrastructure; 99% cheaper than physical ground sensors.</a:t>
            </a:r>
            <a:br/>
            <a:r>
              <a:t>• Public Good API: Open freemium citizen tier for community air health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📈 Market Size &amp; Scalability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Global Environmental Monitoring Market: $3.2 Billion (growing at 8.4% CAGR).</a:t>
            </a:r>
            <a:br/>
            <a:r>
              <a:t>• Pan-India Scalability: Modular coordinate grid easily expands from 15 pilot districts to all 700+ districts across India.</a:t>
            </a:r>
            <a:br/>
            <a:r>
              <a:t>• Global Portability: The satellite-first architecture can be deployed in Southeast Asia, Latin America, and Sub-Saharan Africa with zero code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