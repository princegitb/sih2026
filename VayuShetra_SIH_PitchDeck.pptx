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1182B"/>
          </a:solidFill>
          <a:ln w="2540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23444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SMART INDIA HACKATHON 2026 • AI &amp; SATELLITE ATMOSPHERIC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91640"/>
            <a:ext cx="9418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VayuShetra: Atmospheric Intelligence Platform</a:t>
            </a:r>
          </a:p>
          <a:p>
            <a:pPr>
              <a:defRPr sz="1700">
                <a:solidFill>
                  <a:srgbClr val="38BDF8"/>
                </a:solidFill>
              </a:defRPr>
            </a:pPr>
            <a:r>
              <a:t>Solving India's Air Quality Crisis with Sentinel-5P HCHO Hotspots, Wind Transport AI &amp; Source Attribution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611880"/>
            <a:ext cx="2212848" cy="201168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23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🛰️ HCHO &amp; FIRMS Hotspots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Detects smoldering stubble fires missed by thermal sensors via Sentinel-5P HCHO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0752" y="3611880"/>
            <a:ext cx="2212848" cy="201168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23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🌪️ Lagrangian Wind AI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Physics-driven smoke plume trajectory tracking across 300+ km corridors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9904" y="3611880"/>
            <a:ext cx="2212848" cy="201168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23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⚡ 48-72h Early Warning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Pre-emptive district intelligence replacing retroactive emergency lockdowns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9056" y="3611880"/>
            <a:ext cx="2212848" cy="201168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23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🎯 Chemical Source Attribution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Decomposes air pollution into Farm Fire vs Vehicle vs Factory percentages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VAYUSHETRA • SIH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Problem Statement: The Staggering Scale of India's Air Crisis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1. Severe Health &amp; Economic Burden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1.67 Million Premature Deaths annually in India attributed to toxic air (Lancet Report).</a:t>
            </a:r>
            <a:br/>
            <a:r>
              <a:t>• ₹2.7 Lakh Crore ($36.8B) annual economic loss from worker morbidity &amp; healthcare load.</a:t>
            </a:r>
            <a:br/>
            <a:r>
              <a:t>• Post-monsoon AQI exceeds 450+ (25x to 30x above WHO limits), forcing school closures &amp; public health emergencies.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2. Massive Ground Sensor Blindspots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Ground stations (CPCB) cost ₹1.5–2 Crore each to deploy + ₹30 Lakh/year maintenance.</a:t>
            </a:r>
            <a:br/>
            <a:r>
              <a:t>• As a result, ground sensors are 90% clustered in Tier-1 cities; 600,000+ villages have ZERO sensors.</a:t>
            </a:r>
            <a:br/>
            <a:r>
              <a:t>• Rural agricultural stubble burning belts in Punjab/Haryana/UP operate in complete data blindness.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B6BF5"/>
                </a:solidFill>
              </a:defRPr>
            </a:pPr>
            <a:r>
              <a:t>3. The 'Invisible Fire' &amp; Attribution Gap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Smoldering farm fires emit massive Formaldehyde (HCHO) and VOCs with low thermal heat, making them invisible to standard infrared sensors.</a:t>
            </a:r>
            <a:br/>
            <a:r>
              <a:t>• Governments cannot prove causal responsibility (Farm Fires vs. Traffic vs. Industry).</a:t>
            </a:r>
            <a:br/>
            <a:r>
              <a:t>• Leads to retroactive, blanket lockdowns instead of targeted enforcement.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VAYUSHETRA • SIH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Proposed Solution: Why VayuShetra is an Absolute Necessity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🛰️ Sentinel-5P HCHO &amp; Satellite Hotspots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Utilizes Sentinel-5P TROPOMI Formaldehyde (HCHO) columnar density and NASA VIIRS to track smoldering biomass burning and industrial VOC hotspots that traditional cameras and thermal sensors miss.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🌪️ Lagrangian Wind Transport Modeling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Combines kinematic ERA5 wind trajectories with Lagrangian plume dispersion to simulate how smoke plumes travel 300+ km from Punjab/Haryana straight into the Delhi-NCR landlocked basin.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525780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B6BF5"/>
                </a:solidFill>
              </a:defRPr>
            </a:pPr>
            <a:r>
              <a:t>⚡ 48-72h Early Warning &amp; Predictive AI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Multi-seasonal LightGBM and XGBoost ML architectures trained on historical meteorological patterns to forecast district-level PM2.5, PM10, and AQI up to 3 days in advance.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86200"/>
            <a:ext cx="525780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🎯 Trace Gas Chemical Source Apportionment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Computes TROPOMI columnar ratios (NO2/CO, HCHO/SO2) to scientifically separate regional air pollution into exact percentage shares: Farm Fires (Biomass), Vehicles, and Industry.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VAYUSHETRA • SIH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Technical Approach: End-to-End Space-to-Decision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B6BF5"/>
                </a:solidFill>
              </a:defRPr>
            </a:pPr>
            <a:r>
              <a:t>1. Multi-Satellite Ingestion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Sentinel-5P TROPOMI: HCHO, NO2, SO2, CO, Aerosol Index.</a:t>
            </a:r>
            <a:br/>
            <a:r>
              <a:t>• NASA FIRMS: 375m high-resolution VIIRS &amp; MODIS Thermal Anomaly Feeds.</a:t>
            </a:r>
            <a:br/>
            <a:r>
              <a:t>• CPCB Ground Stations: Live hourly telemetry across 15+ benchmark districts.</a:t>
            </a:r>
            <a:br/>
            <a:r>
              <a:t>• Open-Meteo &amp; ERA5: Planetary Boundary Layer (PBL), Wind Vector (u, v), Temperature, &amp; Humidity.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2. Spatial AI &amp; Chemical Modeling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DBSCAN Spatial Clustering: Groups isolated fire pixels into coherent regional burning centers.</a:t>
            </a:r>
            <a:br/>
            <a:r>
              <a:t>• Lagrangian Transport Engine: Simulates downwind advection, dispersion, and ground receptor deposition.</a:t>
            </a:r>
            <a:br/>
            <a:r>
              <a:t>• Partial Correlation Analysis: Separates raw fire counts from actual weather-adjusted smoke impact.</a:t>
            </a:r>
            <a:br/>
            <a:r>
              <a:t>• Multi-Seasonal ML Forecasting: LightGBM / XGBoost with dynamic meteorology feature weighting.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3. Actionable Governance Layer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15-District Spatial Risk Grid: Live ranking and comparative heatmaps from Ambala to Delhi.</a:t>
            </a:r>
            <a:br/>
            <a:r>
              <a:t>• Automated GRAP Advisory Engine: Maps real-time forecasts to Stage I–IV mandatory compliance actions.</a:t>
            </a:r>
            <a:br/>
            <a:r>
              <a:t>• Hyperlocal Advisory Generator: Tailored advisories for district collectors, health officers, and citizens.</a:t>
            </a:r>
            <a:br/>
            <a:r>
              <a:t>• Interactive Production Web Platform: React 18 + FastAPI + SQLite/PostgreSQL caching.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VAYUSHETRA • SIH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Feasibility &amp; Viability: High Operational ROI &amp; Zero Hardware Cost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Zero Hardware Capex • 100% Spatial Coverage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By leveraging open ESA/NASA satellite constellations and CPCB public feeds, VayuShetra achieves pan-India coverage without spending crores on new ground sensor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Lightweight, Production-Grade Cloud Stack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FastAPI asynchronous backend with intelligent caching and vectorized React frontend. Capable of processing satellite NetCDF4 arrays and serving 10,000+ simultaneous requests on low-cost cloud tiers.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525780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B6BF5"/>
                </a:solidFill>
              </a:defRPr>
            </a:pPr>
            <a:r>
              <a:t>Intelligent Offline Resilience &amp; Imputation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Includes spatial k-NN interpolation and seasonal baseline fallback engines, ensuring uninterrupted 48h forecasts even during cloud cover, monsoon interference, or satellite downlink delays.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86200"/>
            <a:ext cx="525780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Plug-and-Play Pan-India Scalability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The modular district-coordinate engine scales effortlessly from the 15 pilot districts in Punjab/Haryana/NCR to all 700+ districts across India with zero architectural refactoring.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VAYUSHETRA • SIH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Impact &amp; Benefits: From Reactive Chaos to Proactive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B6BF5"/>
                </a:solidFill>
              </a:defRPr>
            </a:pPr>
            <a:r>
              <a:t>🏛️ For District Administrations &amp; CPCB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48-72h Proactive Early Warning: Dispatch agricultural machinery &amp; bio-decomposer teams BEFORE stubble is lit.</a:t>
            </a:r>
            <a:br/>
            <a:r>
              <a:t>• Audit-Grade Evidence: Replaces cross-state blame games with unforgeable satellite emission data.</a:t>
            </a:r>
            <a:br/>
            <a:r>
              <a:t>• Targeted Sector Enforcement: Enables specific interventions (e.g. diesel truck bans vs factory restrictions) rather than crippling blanket city shutdowns.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👥 For Public Health &amp; Vulnerable Citizens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Protects 50+ Million Citizens in the Indo-Gangetic Plain with localized, pollutant-specific health advisories.</a:t>
            </a:r>
            <a:br/>
            <a:r>
              <a:t>• Timely alerts for schools, hospitals, and high-risk asthma/cardiovascular patients to prevent emergency room surges.</a:t>
            </a:r>
            <a:br/>
            <a:r>
              <a:t>• Jargon-free public air dashboard providing transparent, easy-to-understand air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💰 National Economic &amp; Policy ROI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Direct Economic Savings: Prevents billions in lost worker productivity and catastrophic healthcare spending.</a:t>
            </a:r>
            <a:br/>
            <a:r>
              <a:t>• Accelerates NCAP Targets: Directly supports National Clean Air Programme goal of reducing PM2.5 by 40% by 2026.</a:t>
            </a:r>
            <a:br/>
            <a:r>
              <a:t>• Scalable Blueprint: Establishes India as a global pioneer in satellite-driven environmental AI governance.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