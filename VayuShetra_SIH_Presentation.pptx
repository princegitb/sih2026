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2192A"/>
          </a:solidFill>
          <a:ln w="25400">
            <a:solidFill>
              <a:srgbClr val="4B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463040"/>
            <a:ext cx="9235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SMART INDIA HACKATHON 2026 • AI &amp; SATELLITE AIR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011680"/>
            <a:ext cx="9235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8FAFC"/>
                </a:solidFill>
              </a:defRPr>
            </a:pPr>
            <a:r>
              <a:t>VayuShetra: Atmospheric Intelligence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Hyperlocal Air Quality Forecasting, Farm Fire Tracking &amp; Source Attribution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931920"/>
            <a:ext cx="2148840" cy="1371600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5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🛰️ Multi-Satellite Ingestion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Sentinel-5P TROPOMI &amp; NASA VIIRS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3931920"/>
            <a:ext cx="2148840" cy="1371600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5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🌪️ Wind Trajectory AI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Lagrangian Dispersion &amp; HYSPLIT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79" y="3931920"/>
            <a:ext cx="2148840" cy="1371600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5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⚡ 48-72h Early Warning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District-level predictive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3931920"/>
            <a:ext cx="2148840" cy="1371600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5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🎯 Source Apportionment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Chemical trace gas fingerprinting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VAYUSHETRA • SIH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Statement: The Air Quality Crisis &amp; Data Blindspots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448056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4B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B6BF5"/>
                </a:solidFill>
              </a:defRPr>
            </a:pPr>
            <a:r>
              <a:t>1. Sparse &amp; Uneven Ground Sensors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CPCB ground monitoring stations are geographically limited to major urban centers.</a:t>
            </a:r>
            <a:br/>
            <a:br/>
            <a:r>
              <a:t>• Rural &amp; peri-urban stubble burning belts (Punjab, Haryana, UP) have zero ground coverage.</a:t>
            </a:r>
            <a:br/>
            <a:br/>
            <a:r>
              <a:t>• Localized pollution spikes go completely undetected until smoke blankets cities.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554480"/>
            <a:ext cx="3429000" cy="448056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2. Lack of Causal Source Attribution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Existing tools report aggregate AQI without attributing exact causes.</a:t>
            </a:r>
            <a:br/>
            <a:br/>
            <a:r>
              <a:t>• Administrations cannot quantify the exact percentage from Farm Fires vs. Vehicles vs. Factories.</a:t>
            </a:r>
            <a:br/>
            <a:br/>
            <a:r>
              <a:t>• Leads to ineffective, broad-brush policies instead of targeted enforcement.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554480"/>
            <a:ext cx="3429000" cy="448056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3. Reactive Rather than Proactive Action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Emergency GRAP measures are enforced after air quality turns Severe.</a:t>
            </a:r>
            <a:br/>
            <a:br/>
            <a:r>
              <a:t>• Absence of physics-informed 48-72 hour meteorological forecast models.</a:t>
            </a:r>
            <a:br/>
            <a:br/>
            <a:r>
              <a:t>• Significant economic loss and severe public health repercussions across Delhi-NCR.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VAYUSHETRA • SIH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Proposed Solution: VayuShetra Atmospheric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57800" cy="20574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🛰️ Space-Borne Hyperlocal Sensing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Integrates Sentinel-5P TROPOMI satellite data (NO2, SO2, CO, HCHO, Aerosol Index) and NASA FIRMS (VIIRS/MODIS) thermal hotspots to eliminate ground sensor blindspots.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554480"/>
            <a:ext cx="5257800" cy="20574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🌪️ Physics-Informed Wind Transport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Combines Lagrangian plume dispersion modeling with ERA5 meteorological wind vectors to track exact smoke transport corridors from agricultural fires to urban basins.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257800" cy="20574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4B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B6BF5"/>
                </a:solidFill>
              </a:defRPr>
            </a:pPr>
            <a:r>
              <a:t>⚡ 48-72h AI Predictive Forecasting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Multi-seasonal machine learning models (LightGBM / XGBoost) predicting district-level PM2.5, PM10, and AQI with dynamic weather feature weighting.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40480"/>
            <a:ext cx="5257800" cy="20574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🎯 Real-Time Chemical Attribution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Trace gas columnar ratio analysis (NO2/CO, HCHO/SO2) that decomposes regional pollution into exact percentage contributions: Biomass, Vehicular, and Industrial.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VAYUSHETRA • SIH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Technical Approach &amp; Architectural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448056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4B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B6BF5"/>
                </a:solidFill>
              </a:defRPr>
            </a:pPr>
            <a:r>
              <a:t>1. Data Ingestion Layer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Sentinel-5P TROPOMI Trace Gases</a:t>
            </a:r>
            <a:br/>
            <a:br/>
            <a:r>
              <a:t>• NASA FIRMS 375m VIIRS Thermal Hotspots</a:t>
            </a:r>
            <a:br/>
            <a:br/>
            <a:r>
              <a:t>• CPCB Ground Telemetry (15+ Districts)</a:t>
            </a:r>
            <a:br/>
            <a:br/>
            <a:r>
              <a:t>• ERA5 &amp; Open-Meteo Wind Vector Kinematics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554480"/>
            <a:ext cx="3429000" cy="448056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2. AI Modeling &amp; Spatial Analysis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Multi-Seasonal LightGBM &amp; XGBoost Forecasts</a:t>
            </a:r>
            <a:br/>
            <a:br/>
            <a:r>
              <a:t>• DBSCAN Density Hotspot Clustering</a:t>
            </a:r>
            <a:br/>
            <a:br/>
            <a:r>
              <a:t>• Lagrangian Smoke Plume Transport Modeling</a:t>
            </a:r>
            <a:br/>
            <a:br/>
            <a:r>
              <a:t>• Chemical Trace-Gas Ratio Apportionment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554480"/>
            <a:ext cx="3429000" cy="448056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3. Intelligence &amp; Action Layer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District Spatial Risk Matrix (Ambala to Delhi)</a:t>
            </a:r>
            <a:br/>
            <a:br/>
            <a:r>
              <a:t>• Automated GRAP Stage I-IV Compliance Engine</a:t>
            </a:r>
            <a:br/>
            <a:br/>
            <a:r>
              <a:t>• Hyperlocal Actionable Advisory Generation</a:t>
            </a:r>
            <a:br/>
            <a:br/>
            <a:r>
              <a:t>• Interactive React 18 + FastAPI Cloud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VAYUSHETRA • SIH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Feasibility &amp; Viability: Scalable &amp; Production-Ready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57800" cy="20574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Data Availability &amp; Zero Sensor Overhead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Utilizes publicly available, high-frequency satellite streams (Sentinel, VIIRS) and open meteorological APIs. Requires zero additional expensive hardware deployment on the ground.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554480"/>
            <a:ext cx="5257800" cy="20574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Low-Cost Cloud Native Architecture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Built with lightweight FastAPI backend, SQLite/PostgreSQL caching, and vector-accelerated React frontend. Highly cost-efficient compute that runs on standard cloud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257800" cy="20574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4B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B6BF5"/>
                </a:solidFill>
              </a:defRPr>
            </a:pPr>
            <a:r>
              <a:t>Robust Fallback &amp; Offline Resilience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Incorporates intelligent spatial interpolation and multi-seasonal seasonal fallback baselines, ensuring uninterrupted operational forecasts even during cloud cover or satellite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40480"/>
            <a:ext cx="5257800" cy="20574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Pan-India Scalability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Modular district-level grid architecture easily expands from Delhi-NCR and Punjab/Haryana stubble corridors to all 700+ districts across India with zero re-engineering.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VAYUSHETRA • SIH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Impact &amp; Benefits: Transforming Environmental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448056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4B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B6BF5"/>
                </a:solidFill>
              </a:defRPr>
            </a:pPr>
            <a:r>
              <a:t>🏛️ For Government &amp; District Authorities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48-72h Early Warning enables pre-emptive agricultural stubble management.</a:t>
            </a:r>
            <a:br/>
            <a:br/>
            <a:r>
              <a:t>• Precise source attribution stops blame-games with audit-grade satellite evidence.</a:t>
            </a:r>
            <a:br/>
            <a:br/>
            <a:r>
              <a:t>• Automated GRAP compliance actions targeted to specific offending sectors.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554480"/>
            <a:ext cx="3429000" cy="448056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👥 For Public Health &amp; Citizens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Hyperlocal air alerts protect vulnerable populations, schools, and hospitals.</a:t>
            </a:r>
            <a:br/>
            <a:br/>
            <a:r>
              <a:t>• Actionable health advisories based on specific pollutants (PM2.5 vs Ozone vs NO2).</a:t>
            </a:r>
            <a:br/>
            <a:br/>
            <a:r>
              <a:t>• Transparent, easy-to-understand air intelligence without complex academic jargon.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554480"/>
            <a:ext cx="3429000" cy="448056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💰 Economic &amp; Environmental ROI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Prevents billions of dollars in health expenditures and respiratory treatments.</a:t>
            </a:r>
            <a:br/>
            <a:br/>
            <a:r>
              <a:t>• Eliminates economic disruptions caused by retroactive, blanket city shutdowns.</a:t>
            </a:r>
            <a:br/>
            <a:br/>
            <a:r>
              <a:t>• Direct acceleration towards National Clean Air Programme (NCAP) targets.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